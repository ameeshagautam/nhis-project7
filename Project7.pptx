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B2A4A"/>
                </a:solidFill>
                <a:latin typeface="Calibri"/>
              </a:rPr>
              <a:t>Class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Tweets</c:v>
                </c:pt>
              </c:strCache>
            </c:strRef>
          </c:tx>
          <c:spPr>
            <a:solidFill>
              <a:srgbClr val="2F8F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8F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1443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Not Disaster</c:v>
                  </c:pt>
                  <c:pt idx="1">
                    <c:v>Disaster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4342</c:v>
                </c:pt>
                <c:pt idx="1">
                  <c:v>3271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7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8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7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5F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Calibri"/>
              </a:rPr>
              <a:t>5-Fold Cross-Validation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CV Accuracy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93A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Logistic
Regression</c:v>
                  </c:pt>
                  <c:pt idx="1">
                    <c:v>Random
Forest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79.4</c:v>
                </c:pt>
                <c:pt idx="1">
                  <c:v>77.7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7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70"/>
        </c:scaling>
        <c:delete val="0"/>
        <c:axPos val="l"/>
        <c:majorGridlines>
          <c:spPr>
            <a:ln w="12700" cap="flat">
              <a:solidFill>
                <a:srgbClr val="D8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7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5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640080"/>
            <a:ext cx="201168" cy="20116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1005840"/>
            <a:ext cx="201168" cy="201168"/>
          </a:xfrm>
          <a:prstGeom prst="ellipse">
            <a:avLst/>
          </a:prstGeom>
          <a:solidFill>
            <a:srgbClr val="C1443C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548640"/>
            <a:ext cx="201168" cy="20116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914400"/>
            <a:ext cx="201168" cy="20116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640080"/>
            <a:ext cx="201168" cy="201168"/>
          </a:xfrm>
          <a:prstGeom prst="ellipse">
            <a:avLst/>
          </a:prstGeom>
          <a:solidFill>
            <a:srgbClr val="C1443C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0" y="1554480"/>
            <a:ext cx="201168" cy="201168"/>
          </a:xfrm>
          <a:prstGeom prst="ellipse">
            <a:avLst/>
          </a:prstGeom>
          <a:solidFill>
            <a:srgbClr val="C1443C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0" y="1737360"/>
            <a:ext cx="201168" cy="20116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0" y="1463040"/>
            <a:ext cx="201168" cy="20116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0" name="Shape 8"/>
          <p:cNvSpPr/>
          <p:nvPr/>
        </p:nvSpPr>
        <p:spPr>
          <a:xfrm>
            <a:off x="10789920" y="1737360"/>
            <a:ext cx="201168" cy="201168"/>
          </a:xfrm>
          <a:prstGeom prst="ellipse">
            <a:avLst/>
          </a:prstGeom>
          <a:solidFill>
            <a:srgbClr val="C1443C"/>
          </a:solidFill>
          <a:ln/>
        </p:spPr>
      </p:sp>
      <p:sp>
        <p:nvSpPr>
          <p:cNvPr id="11" name="Shape 9"/>
          <p:cNvSpPr/>
          <p:nvPr/>
        </p:nvSpPr>
        <p:spPr>
          <a:xfrm>
            <a:off x="11338560" y="1371600"/>
            <a:ext cx="201168" cy="20116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0" y="2286000"/>
            <a:ext cx="201168" cy="20116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3" name="Shape 11"/>
          <p:cNvSpPr/>
          <p:nvPr/>
        </p:nvSpPr>
        <p:spPr>
          <a:xfrm>
            <a:off x="9784080" y="2468880"/>
            <a:ext cx="201168" cy="201168"/>
          </a:xfrm>
          <a:prstGeom prst="ellipse">
            <a:avLst/>
          </a:prstGeom>
          <a:solidFill>
            <a:srgbClr val="C1443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0" y="2194560"/>
            <a:ext cx="201168" cy="20116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47120" y="2377440"/>
            <a:ext cx="201168" cy="20116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1874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Hikes IT Solutions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24688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 Tweet Classifier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20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NLP and machine learning to separate real emergencies from casual language on Twitter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text classification project — 7,613 hand-labeled tweets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99832" y="6126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Ameesha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noisy tweets to a working classifier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complete pipeline that reads real tweets, decides whether each one describes an actual disaster, and serves that decision through a live web app. It moves through four stages, each building on the last.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7EBF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33375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Clean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526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data and strip out noise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30632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7EBF2"/>
          </a:solidFill>
          <a:ln/>
        </p:spPr>
      </p:sp>
      <p:sp>
        <p:nvSpPr>
          <p:cNvPr id="10" name="Shape 8"/>
          <p:cNvSpPr/>
          <p:nvPr/>
        </p:nvSpPr>
        <p:spPr>
          <a:xfrm>
            <a:off x="3630168" y="33375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30168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39776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4526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tweet text into model-ready numbers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3056" y="30632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7EBF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37376" y="33375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37376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39776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Evaluate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4526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and measure real performance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70264" y="30632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7EBF2"/>
          </a:solidFill>
          <a:ln/>
        </p:spPr>
      </p:sp>
      <p:sp>
        <p:nvSpPr>
          <p:cNvPr id="20" name="Shape 18"/>
          <p:cNvSpPr/>
          <p:nvPr/>
        </p:nvSpPr>
        <p:spPr>
          <a:xfrm>
            <a:off x="9244584" y="33375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44584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44584" y="39776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244584" y="4526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 as a working web application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“fire” is a fire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 often contain disaster words like “fire” or “flood” — but not every one of them describes a real emergency. </a:t>
            </a:r>
            <a:pPr algn="l"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concert was a disaster” 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same vocabulary as an actual wildfire report, just metaphorically.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to learn the difference from context, not just spot scary keywords — which is what makes this a genuinely hard NLP problem rather than a simple keyword filter.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949440" y="1508760"/>
            <a:ext cx="256032" cy="25603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60920" y="13898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precision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60920" y="175564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false alarms while still catching real emergencies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949440" y="2743200"/>
            <a:ext cx="256032" cy="256032"/>
          </a:xfrm>
          <a:prstGeom prst="ellipse">
            <a:avLst/>
          </a:prstGeom>
          <a:solidFill>
            <a:srgbClr val="C144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60920" y="26243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299008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slang, typos, and abbreviations across diverse tweets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49440" y="3977640"/>
            <a:ext cx="256032" cy="256032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60920" y="38587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422452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large volumes of tweets for continuous, real-time monitoring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7,613 tweets, hand-labeled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7,613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 in the dataset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B5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“keyword” values (0.8%) — filled, not dropped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B5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2,533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9834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“location” values (33%) — filled, not dropped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309360" y="137160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steps from raw text to model-ready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2743200"/>
            <a:ext cx="10149840" cy="0"/>
          </a:xfrm>
          <a:prstGeom prst="line">
            <a:avLst/>
          </a:prstGeom>
          <a:noFill/>
          <a:ln w="25400">
            <a:solidFill>
              <a:srgbClr val="D8DE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2450592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24505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" y="32461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text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HTML entities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0" y="2450592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0" y="24505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167128" y="32461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URLs,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@mentions, # symbols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73168" y="2450592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73168" y="24505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197096" y="32461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numbers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punctuation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03136" y="2450592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03136" y="24505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227064" y="32461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into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words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33104" y="2450592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33104" y="24505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57032" y="32461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stopwords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(the, is, and…)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863072" y="2450592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863072" y="24505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287000" y="32461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Lemmatize 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form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words into numbers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tweet becomes a row of word-importance scores: common words score low, distinctive words like “derailment” or “wildfire” score high. This gives the model something to actually learn from.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E7EB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7947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features per tweet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766560" y="21031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0" y="19933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 length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23317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count — disaster reports tend to run longer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3108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C144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0" y="29992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hashtag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33375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flag for the presence of a # tag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41148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8F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0" y="40050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mention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4343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flag for the presence of an @ mention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5120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5,003 features total per tweet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Simpler model, better recall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41732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892040"/>
            <a:ext cx="3383280" cy="502920"/>
          </a:xfrm>
          <a:prstGeom prst="roundRect">
            <a:avLst>
              <a:gd name="adj" fmla="val 50909"/>
            </a:avLst>
          </a:prstGeom>
          <a:solidFill>
            <a:srgbClr val="2F8F5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48920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Logistic Regression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554480"/>
          <a:ext cx="5577840" cy="2377440"/>
        </p:xfrm>
        <a:graphic>
          <a:graphicData uri="http://schemas.openxmlformats.org/drawingml/2006/table">
            <a:tbl>
              <a:tblPr/>
              <a:tblGrid>
                <a:gridCol w="1859280"/>
                <a:gridCol w="1859280"/>
                <a:gridCol w="18592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7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Disaster 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7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7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Disaster 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7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7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second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7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 seconds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126480" y="420624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wins on the metric that matters most here: it misses fewer real disaster tweets, and trains in a fraction of the time.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well does it actually work?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880360" cy="1554480"/>
          </a:xfrm>
          <a:prstGeom prst="roundRect">
            <a:avLst>
              <a:gd name="adj" fmla="val 4706"/>
            </a:avLst>
          </a:prstGeom>
          <a:solidFill>
            <a:srgbClr val="E7EB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30168" y="1508760"/>
            <a:ext cx="2880360" cy="1554480"/>
          </a:xfrm>
          <a:prstGeom prst="roundRect">
            <a:avLst>
              <a:gd name="adj" fmla="val 4706"/>
            </a:avLst>
          </a:prstGeom>
          <a:solidFill>
            <a:srgbClr val="E7EB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30168" y="164592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630168" y="25146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2880360" cy="1554480"/>
          </a:xfrm>
          <a:prstGeom prst="roundRect">
            <a:avLst>
              <a:gd name="adj" fmla="val 4706"/>
            </a:avLst>
          </a:prstGeom>
          <a:solidFill>
            <a:srgbClr val="E7EB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40156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7024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recall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30168" y="3264408"/>
            <a:ext cx="2880360" cy="1554480"/>
          </a:xfrm>
          <a:prstGeom prst="roundRect">
            <a:avLst>
              <a:gd name="adj" fmla="val 4706"/>
            </a:avLst>
          </a:prstGeom>
          <a:solidFill>
            <a:srgbClr val="E7EB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0168" y="340156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427024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precision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1417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set, 1,523 tweets)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63840" y="1965960"/>
            <a:ext cx="1828800" cy="1005840"/>
          </a:xfrm>
          <a:prstGeom prst="rect">
            <a:avLst/>
          </a:prstGeom>
          <a:solidFill>
            <a:srgbClr val="E3F1E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0" y="20391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8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759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2532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765792" y="1965960"/>
            <a:ext cx="1828800" cy="1005840"/>
          </a:xfrm>
          <a:prstGeom prst="rect">
            <a:avLst/>
          </a:prstGeom>
          <a:solidFill>
            <a:srgbClr val="F7E3E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65792" y="20391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765792" y="2532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63840" y="3044952"/>
            <a:ext cx="1828800" cy="1005840"/>
          </a:xfrm>
          <a:prstGeom prst="rect">
            <a:avLst/>
          </a:prstGeom>
          <a:solidFill>
            <a:srgbClr val="F7E3E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0" y="311810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765792" y="3044952"/>
            <a:ext cx="1828800" cy="1005840"/>
          </a:xfrm>
          <a:prstGeom prst="rect">
            <a:avLst/>
          </a:prstGeom>
          <a:solidFill>
            <a:srgbClr val="E3F1E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65792" y="311810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8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468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9765792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4251960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show the predicted class; rows show the actual class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notebook to web app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 text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971800" y="237744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0" y="237744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0" y="2377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237744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675120" y="237744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2377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237744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9646920" y="2240280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2F8F5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46920" y="2240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Disaster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46920" y="3063240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46920" y="3063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2062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Flask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66344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Python web framework serves an input form and returns the model's prediction with a confidence score — using the exact same cleaning pipeline as training.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4206240"/>
            <a:ext cx="5212080" cy="1737360"/>
          </a:xfrm>
          <a:prstGeom prst="roundRect">
            <a:avLst>
              <a:gd name="adj" fmla="val 3158"/>
            </a:avLst>
          </a:prstGeom>
          <a:solidFill>
            <a:srgbClr val="2A2F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4370832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-r requirements.txt
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app.py
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B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Running on http://127.0.0.1:5000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shows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212848"/>
            <a:ext cx="146304" cy="146304"/>
          </a:xfrm>
          <a:prstGeom prst="rect">
            <a:avLst/>
          </a:prstGeom>
          <a:solidFill>
            <a:srgbClr val="2F8F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7568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outperformed Random Forest, despite being the simpler model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054096"/>
            <a:ext cx="146304" cy="146304"/>
          </a:xfrm>
          <a:prstGeom prst="rect">
            <a:avLst/>
          </a:prstGeom>
          <a:solidFill>
            <a:srgbClr val="2F8F5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91693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accuracy and 0.87 ROC AUC on tweets the model never saw during training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895344"/>
            <a:ext cx="146304" cy="146304"/>
          </a:xfrm>
          <a:prstGeom prst="rect">
            <a:avLst/>
          </a:prstGeom>
          <a:solidFill>
            <a:srgbClr val="2F8F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758184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72% of real disaster tweets while keeping false alarms low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736592"/>
            <a:ext cx="146304" cy="146304"/>
          </a:xfrm>
          <a:prstGeom prst="rect">
            <a:avLst/>
          </a:prstGeom>
          <a:solidFill>
            <a:srgbClr val="2F8F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59943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working Flask web app with live predictions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645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2212848"/>
            <a:ext cx="146304" cy="146304"/>
          </a:xfrm>
          <a:prstGeom prst="rect">
            <a:avLst/>
          </a:prstGeom>
          <a:solidFill>
            <a:srgbClr val="C144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12280" y="207568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word embeddings (Word2Vec / GloVe) for richer semantic understanding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92240" y="3054096"/>
            <a:ext cx="146304" cy="146304"/>
          </a:xfrm>
          <a:prstGeom prst="rect">
            <a:avLst/>
          </a:prstGeom>
          <a:solidFill>
            <a:srgbClr val="C144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12280" y="2916936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decision threshold to prioritize recall over precision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92240" y="3895344"/>
            <a:ext cx="146304" cy="146304"/>
          </a:xfrm>
          <a:prstGeom prst="rect">
            <a:avLst/>
          </a:prstGeom>
          <a:solidFill>
            <a:srgbClr val="C144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12280" y="3758184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live tweets for real-time monitoring instead of static data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212080"/>
            <a:ext cx="182880" cy="182880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0" y="5577840"/>
            <a:ext cx="182880" cy="182880"/>
          </a:xfrm>
          <a:prstGeom prst="ellipse">
            <a:avLst/>
          </a:prstGeom>
          <a:solidFill>
            <a:srgbClr val="C1443C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5120640"/>
            <a:ext cx="182880" cy="182880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1097280"/>
            <a:ext cx="182880" cy="182880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0" y="731520"/>
            <a:ext cx="182880" cy="182880"/>
          </a:xfrm>
          <a:prstGeom prst="ellipse">
            <a:avLst/>
          </a:prstGeom>
          <a:solidFill>
            <a:srgbClr val="C1443C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0" y="1371600"/>
            <a:ext cx="182880" cy="182880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914400"/>
            <a:ext cx="182880" cy="182880"/>
          </a:xfrm>
          <a:prstGeom prst="ellipse">
            <a:avLst/>
          </a:prstGeom>
          <a:solidFill>
            <a:srgbClr val="C1443C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640080"/>
            <a:ext cx="182880" cy="182880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0" y="288036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0" y="3886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Classifier — Next Hikes IT Solutions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2026-09-14T04:04:16Z</dcterms:created>
  <dcterms:modified xsi:type="dcterms:W3CDTF">2026-09-14T04:04:16Z</dcterms:modified>
</cp:coreProperties>
</file>